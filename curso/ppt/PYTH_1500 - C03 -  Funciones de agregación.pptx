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3"/>
    <p:sldMasterId id="2147483711" r:id="rId4"/>
    <p:sldMasterId id="214748371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Archivo Light"/>
      <p:regular r:id="rId35"/>
      <p:bold r:id="rId36"/>
      <p:italic r:id="rId37"/>
      <p:boldItalic r:id="rId38"/>
    </p:embeddedFont>
    <p:embeddedFont>
      <p:font typeface="Montserrat SemiBold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Montserrat Light"/>
      <p:regular r:id="rId51"/>
      <p:bold r:id="rId52"/>
      <p:italic r:id="rId53"/>
      <p:boldItalic r:id="rId54"/>
    </p:embeddedFont>
    <p:embeddedFont>
      <p:font typeface="Archivo"/>
      <p:regular r:id="rId55"/>
      <p:bold r:id="rId56"/>
      <p:italic r:id="rId57"/>
      <p:boldItalic r:id="rId58"/>
    </p:embeddedFont>
    <p:embeddedFont>
      <p:font typeface="Questrial"/>
      <p:regular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.fntdata"/><Relationship Id="rId42" Type="http://schemas.openxmlformats.org/officeDocument/2006/relationships/font" Target="fonts/MontserratSemiBold-boldItalic.fntdata"/><Relationship Id="rId41" Type="http://schemas.openxmlformats.org/officeDocument/2006/relationships/font" Target="fonts/MontserratSemiBold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font" Target="fonts/MontserratMedium-bold.fntdata"/><Relationship Id="rId47" Type="http://schemas.openxmlformats.org/officeDocument/2006/relationships/font" Target="fonts/MontserratMedium-regular.fntdata"/><Relationship Id="rId49" Type="http://schemas.openxmlformats.org/officeDocument/2006/relationships/font" Target="fonts/MontserratMedium-italic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ArchivoLight-regular.fntdata"/><Relationship Id="rId34" Type="http://schemas.openxmlformats.org/officeDocument/2006/relationships/slide" Target="slides/slide28.xml"/><Relationship Id="rId37" Type="http://schemas.openxmlformats.org/officeDocument/2006/relationships/font" Target="fonts/ArchivoLight-italic.fntdata"/><Relationship Id="rId36" Type="http://schemas.openxmlformats.org/officeDocument/2006/relationships/font" Target="fonts/ArchivoLight-bold.fntdata"/><Relationship Id="rId39" Type="http://schemas.openxmlformats.org/officeDocument/2006/relationships/font" Target="fonts/MontserratSemiBold-regular.fntdata"/><Relationship Id="rId38" Type="http://schemas.openxmlformats.org/officeDocument/2006/relationships/font" Target="fonts/Archivo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Light-regular.fntdata"/><Relationship Id="rId50" Type="http://schemas.openxmlformats.org/officeDocument/2006/relationships/font" Target="fonts/MontserratMedium-boldItalic.fntdata"/><Relationship Id="rId53" Type="http://schemas.openxmlformats.org/officeDocument/2006/relationships/font" Target="fonts/MontserratLight-italic.fntdata"/><Relationship Id="rId52" Type="http://schemas.openxmlformats.org/officeDocument/2006/relationships/font" Target="fonts/MontserratLight-bold.fntdata"/><Relationship Id="rId11" Type="http://schemas.openxmlformats.org/officeDocument/2006/relationships/slide" Target="slides/slide5.xml"/><Relationship Id="rId55" Type="http://schemas.openxmlformats.org/officeDocument/2006/relationships/font" Target="fonts/Archivo-regular.fntdata"/><Relationship Id="rId10" Type="http://schemas.openxmlformats.org/officeDocument/2006/relationships/slide" Target="slides/slide4.xml"/><Relationship Id="rId54" Type="http://schemas.openxmlformats.org/officeDocument/2006/relationships/font" Target="fonts/MontserratLight-boldItalic.fntdata"/><Relationship Id="rId13" Type="http://schemas.openxmlformats.org/officeDocument/2006/relationships/slide" Target="slides/slide7.xml"/><Relationship Id="rId57" Type="http://schemas.openxmlformats.org/officeDocument/2006/relationships/font" Target="fonts/Archivo-italic.fntdata"/><Relationship Id="rId12" Type="http://schemas.openxmlformats.org/officeDocument/2006/relationships/slide" Target="slides/slide6.xml"/><Relationship Id="rId56" Type="http://schemas.openxmlformats.org/officeDocument/2006/relationships/font" Target="fonts/Archivo-bold.fntdata"/><Relationship Id="rId15" Type="http://schemas.openxmlformats.org/officeDocument/2006/relationships/slide" Target="slides/slide9.xml"/><Relationship Id="rId59" Type="http://schemas.openxmlformats.org/officeDocument/2006/relationships/font" Target="fonts/Questrial-regular.fntdata"/><Relationship Id="rId14" Type="http://schemas.openxmlformats.org/officeDocument/2006/relationships/slide" Target="slides/slide8.xml"/><Relationship Id="rId58" Type="http://schemas.openxmlformats.org/officeDocument/2006/relationships/font" Target="fonts/Archiv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c9d07f4d9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c9d07f4d9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c9d07f4d9d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c9d07f4d9d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52932d9f28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52932d9f2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4d756364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4d756364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g252932d9f28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2" name="Google Shape;1312;g252932d9f28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52932d9f2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52932d9f2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52932d9f28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52932d9f28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52932d9f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52932d9f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25f7e02a54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5f7e02a54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52e0f4c8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52e0f4c8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52e0f4c8ce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52e0f4c8ce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g252e0f4c8ce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8" name="Google Shape;1538;g252e0f4c8ce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252e0f4c8ce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252e0f4c8ce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52e0f4c8ce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52e0f4c8ce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52e0f4c8ce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52e0f4c8ce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252e0f4c8ce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252e0f4c8ce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4bc0c984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4bc0c984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52f83e06f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52f83e06f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2555b07523b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2555b07523b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g2555b07523b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3" name="Google Shape;1813;g2555b07523b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55995fb4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55995fb4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555b07523b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2555b07523b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255995fb487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255995fb487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2" name="Google Shape;1922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1" name="Google Shape;1971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g346f7d637ad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8" name="Google Shape;2098;g346f7d637ad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gif"/><Relationship Id="rId3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1F_xo4TKq2ACFJwYNiqSMz8OIvKeTr69RHzBf6m6G0E" TargetMode="External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andas.pydata.org/docs/reference/api/pandas.Series.count.html" TargetMode="External"/><Relationship Id="rId4" Type="http://schemas.openxmlformats.org/officeDocument/2006/relationships/hyperlink" Target="https://pandas.pydata.org/docs/reference/api/pandas.Series.count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6"/>
          <p:cNvSpPr/>
          <p:nvPr/>
        </p:nvSpPr>
        <p:spPr>
          <a:xfrm>
            <a:off x="359388" y="1991063"/>
            <a:ext cx="28542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29" name="Google Shape;1029;p66"/>
          <p:cNvSpPr txBox="1"/>
          <p:nvPr/>
        </p:nvSpPr>
        <p:spPr>
          <a:xfrm>
            <a:off x="413062" y="1450688"/>
            <a:ext cx="60447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Funciones de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agregación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30" name="Google Shape;1030;p66"/>
          <p:cNvGrpSpPr/>
          <p:nvPr/>
        </p:nvGrpSpPr>
        <p:grpSpPr>
          <a:xfrm rot="10800000">
            <a:off x="10510537" y="1058451"/>
            <a:ext cx="775773" cy="5043214"/>
            <a:chOff x="-3766725" y="2744225"/>
            <a:chExt cx="3492900" cy="1362000"/>
          </a:xfrm>
        </p:grpSpPr>
        <p:cxnSp>
          <p:nvCxnSpPr>
            <p:cNvPr id="1031" name="Google Shape;1031;p6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6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6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6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6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6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66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1038" name="Google Shape;1038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66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1090" name="Google Shape;1090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91" name="Google Shape;1091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2" name="Google Shape;1092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3" name="Google Shape;1093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4" name="Google Shape;1094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5" name="Google Shape;1095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6" name="Google Shape;1096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7" name="Google Shape;1097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8" name="Google Shape;1098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9" name="Google Shape;1099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0" name="Google Shape;1100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1" name="Google Shape;1101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2" name="Google Shape;1102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03" name="Google Shape;1103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4" name="Google Shape;1104;p66"/>
          <p:cNvGrpSpPr/>
          <p:nvPr/>
        </p:nvGrpSpPr>
        <p:grpSpPr>
          <a:xfrm>
            <a:off x="5264130" y="1799942"/>
            <a:ext cx="4532918" cy="3559885"/>
            <a:chOff x="10528261" y="3599884"/>
            <a:chExt cx="9065836" cy="7119770"/>
          </a:xfrm>
        </p:grpSpPr>
        <p:sp>
          <p:nvSpPr>
            <p:cNvPr id="1105" name="Google Shape;1105;p66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12" name="Google Shape;1112;p66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6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8" name="Google Shape;1128;p66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1129" name="Google Shape;1129;p66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6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6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6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1136" name="Google Shape;1136;p66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6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6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6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6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6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6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6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66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6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6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6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6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6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6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6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6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6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6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66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66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6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6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7"/>
          <p:cNvSpPr txBox="1"/>
          <p:nvPr/>
        </p:nvSpPr>
        <p:spPr>
          <a:xfrm>
            <a:off x="5376725" y="81897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8" name="Google Shape;1168;p67"/>
          <p:cNvSpPr/>
          <p:nvPr/>
        </p:nvSpPr>
        <p:spPr>
          <a:xfrm>
            <a:off x="7499774" y="114841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7"/>
          <p:cNvSpPr txBox="1"/>
          <p:nvPr>
            <p:ph type="title"/>
          </p:nvPr>
        </p:nvSpPr>
        <p:spPr>
          <a:xfrm>
            <a:off x="608200" y="457275"/>
            <a:ext cx="4161900" cy="33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Aplicar funciones de agregación a una columna de un </a:t>
            </a:r>
            <a:r>
              <a:rPr lang="es-419" sz="21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DataFrame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Crear, reasignar y eliminar columnas en un DataFrame.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Utilizar </a:t>
            </a:r>
            <a:r>
              <a:rPr lang="es-419" sz="21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operaciones </a:t>
            </a:r>
            <a:r>
              <a:rPr lang="es-419" sz="21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aritméticas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generar nuevos campos a partir de datos existentes.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70" name="Google Shape;1170;p67"/>
          <p:cNvGrpSpPr/>
          <p:nvPr/>
        </p:nvGrpSpPr>
        <p:grpSpPr>
          <a:xfrm>
            <a:off x="215269" y="4744900"/>
            <a:ext cx="1978986" cy="268074"/>
            <a:chOff x="913788" y="717625"/>
            <a:chExt cx="3957972" cy="536147"/>
          </a:xfrm>
        </p:grpSpPr>
        <p:grpSp>
          <p:nvGrpSpPr>
            <p:cNvPr id="1171" name="Google Shape;1171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72" name="Google Shape;1172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4" name="Google Shape;1184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8"/>
          <p:cNvSpPr/>
          <p:nvPr/>
        </p:nvSpPr>
        <p:spPr>
          <a:xfrm>
            <a:off x="0" y="0"/>
            <a:ext cx="4125900" cy="51435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8"/>
          <p:cNvSpPr txBox="1"/>
          <p:nvPr/>
        </p:nvSpPr>
        <p:spPr>
          <a:xfrm>
            <a:off x="316350" y="831219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91" name="Google Shape;1191;p68"/>
          <p:cNvSpPr/>
          <p:nvPr/>
        </p:nvSpPr>
        <p:spPr>
          <a:xfrm>
            <a:off x="711026" y="1567508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8"/>
          <p:cNvSpPr/>
          <p:nvPr/>
        </p:nvSpPr>
        <p:spPr>
          <a:xfrm flipH="1" rot="10800000">
            <a:off x="6269301" y="1990363"/>
            <a:ext cx="2646000" cy="2562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193" name="Google Shape;1193;p68"/>
          <p:cNvCxnSpPr>
            <a:stCxn id="1192" idx="0"/>
          </p:cNvCxnSpPr>
          <p:nvPr/>
        </p:nvCxnSpPr>
        <p:spPr>
          <a:xfrm rot="10800000">
            <a:off x="-33999" y="4534963"/>
            <a:ext cx="7626300" cy="183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8"/>
          <p:cNvCxnSpPr>
            <a:stCxn id="1192" idx="2"/>
          </p:cNvCxnSpPr>
          <p:nvPr/>
        </p:nvCxnSpPr>
        <p:spPr>
          <a:xfrm rot="10800000">
            <a:off x="8915301" y="-76187"/>
            <a:ext cx="0" cy="3348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5" name="Google Shape;1195;p68"/>
          <p:cNvSpPr txBox="1"/>
          <p:nvPr>
            <p:ph type="title"/>
          </p:nvPr>
        </p:nvSpPr>
        <p:spPr>
          <a:xfrm>
            <a:off x="4552300" y="969675"/>
            <a:ext cx="4002000" cy="22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Funciones de agregación: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28600" lvl="2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■"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.mean()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28600" lvl="2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■"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.max()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28600" lvl="2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Char char="■"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.unique(), etc.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Series o columnas de un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DataFrame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96" name="Google Shape;1196;p68"/>
          <p:cNvGrpSpPr/>
          <p:nvPr/>
        </p:nvGrpSpPr>
        <p:grpSpPr>
          <a:xfrm>
            <a:off x="480818" y="2328234"/>
            <a:ext cx="3180816" cy="2206894"/>
            <a:chOff x="6729575" y="3285800"/>
            <a:chExt cx="4541428" cy="3150905"/>
          </a:xfrm>
        </p:grpSpPr>
        <p:sp>
          <p:nvSpPr>
            <p:cNvPr id="1197" name="Google Shape;1197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68"/>
          <p:cNvSpPr/>
          <p:nvPr/>
        </p:nvSpPr>
        <p:spPr>
          <a:xfrm flipH="1" rot="5400000">
            <a:off x="4887625" y="887275"/>
            <a:ext cx="125100" cy="847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grpSp>
        <p:nvGrpSpPr>
          <p:cNvPr id="1273" name="Google Shape;1273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74" name="Google Shape;1274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5" name="Google Shape;1275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9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69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294" name="Google Shape;1294;p69"/>
          <p:cNvCxnSpPr>
            <a:stCxn id="1293" idx="2"/>
            <a:endCxn id="1295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p69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96" name="Google Shape;1296;p69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Repaso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7" name="Google Shape;1297;p69"/>
          <p:cNvSpPr txBox="1"/>
          <p:nvPr/>
        </p:nvSpPr>
        <p:spPr>
          <a:xfrm>
            <a:off x="868875" y="1830225"/>
            <a:ext cx="31626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Hasta el momento, hemos explorado el </a:t>
            </a: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módulo</a:t>
            </a: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</a:t>
            </a:r>
            <a:r>
              <a:rPr b="1" lang="es-419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en Python y sus numerosos métodos para manipular y analizar datos, ahora es el momento de adentrarnos en otro aspecto fundamental: las </a:t>
            </a:r>
            <a:r>
              <a:rPr b="1" lang="es-419" sz="1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funciones de agregación</a:t>
            </a:r>
            <a:r>
              <a:rPr lang="es-419" sz="19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.</a:t>
            </a:r>
            <a:endParaRPr sz="19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298" name="Google Shape;12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338" y="2003015"/>
            <a:ext cx="4157376" cy="220427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70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70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05" name="Google Shape;1305;p70"/>
          <p:cNvCxnSpPr>
            <a:stCxn id="1304" idx="2"/>
            <a:endCxn id="1306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6" name="Google Shape;1306;p70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07" name="Google Shape;1307;p70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Repaso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8" name="Google Shape;1308;p70"/>
          <p:cNvSpPr txBox="1"/>
          <p:nvPr/>
        </p:nvSpPr>
        <p:spPr>
          <a:xfrm>
            <a:off x="1157250" y="2026800"/>
            <a:ext cx="68295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Como ya hemos aprendido,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Pandas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nos brinda una amplia gama de herramientas para realizar operaciones en nuestros conjuntos de datos. Sin embargo, en muchas ocasiones, simplemente queremos resumir y obtener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información agregada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sobre nuestros datos. Es aquí cuando las funciones de agregación entran en juego.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pic>
        <p:nvPicPr>
          <p:cNvPr id="1309" name="Google Shape;130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0288" y="1273962"/>
            <a:ext cx="1596401" cy="6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7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15" name="Google Shape;1315;p71"/>
          <p:cNvSpPr txBox="1"/>
          <p:nvPr/>
        </p:nvSpPr>
        <p:spPr>
          <a:xfrm>
            <a:off x="425888" y="2391338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¿Para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qué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sirven las funciones de 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agregación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6" name="Google Shape;1316;p7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17" name="Google Shape;1317;p71"/>
          <p:cNvCxnSpPr>
            <a:stCxn id="13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8" name="Google Shape;1318;p71"/>
          <p:cNvCxnSpPr>
            <a:stCxn id="13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9" name="Google Shape;1319;p71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320" name="Google Shape;1320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21" name="Google Shape;1321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33" name="Google Shape;1333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334" name="Google Shape;1334;p71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335" name="Google Shape;1335;p71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71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71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71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71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71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71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71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71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71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71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71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71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71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71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71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71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71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71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71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55" name="Google Shape;1355;p71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71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71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61" name="Google Shape;1361;p71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71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363" name="Google Shape;1363;p71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71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71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71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71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71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71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71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1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71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71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71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71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71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71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1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1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72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¿Para qué sirven las funciones de agregación?</a:t>
            </a:r>
            <a:endParaRPr sz="2500">
              <a:solidFill>
                <a:srgbClr val="0C0C0C"/>
              </a:solidFill>
            </a:endParaRPr>
          </a:p>
        </p:txBody>
      </p:sp>
      <p:sp>
        <p:nvSpPr>
          <p:cNvPr id="1385" name="Google Shape;1385;p72"/>
          <p:cNvSpPr txBox="1"/>
          <p:nvPr/>
        </p:nvSpPr>
        <p:spPr>
          <a:xfrm>
            <a:off x="456900" y="1315238"/>
            <a:ext cx="8230200" cy="26784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Las 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funciones de agregación nos permiten realizar cálculos</a:t>
            </a: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estadísticos</a:t>
            </a: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 y resumir nuestros datos de manera concisa y eficiente. Con estas funciones, podemos obtener rápidamente información como el valor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2000"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máximo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000"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mínimo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000"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el promedio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-419" sz="2000"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la suma total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y muchas otras métricas.</a:t>
            </a:r>
            <a:endParaRPr sz="2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2000">
                <a:latin typeface="Archivo"/>
                <a:ea typeface="Archivo"/>
                <a:cs typeface="Archivo"/>
                <a:sym typeface="Archivo"/>
              </a:rPr>
            </a:b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Estas funciones </a:t>
            </a:r>
            <a:r>
              <a:rPr b="1" lang="es-419" sz="2000">
                <a:latin typeface="Archivo"/>
                <a:ea typeface="Archivo"/>
                <a:cs typeface="Archivo"/>
                <a:sym typeface="Archivo"/>
              </a:rPr>
              <a:t>pueden aplicarse a conjuntos de datos completos o a columnas específicas</a:t>
            </a:r>
            <a:r>
              <a:rPr lang="es-419" sz="2000">
                <a:latin typeface="Archivo"/>
                <a:ea typeface="Archivo"/>
                <a:cs typeface="Archivo"/>
                <a:sym typeface="Archivo"/>
              </a:rPr>
              <a:t> para obtener los resultados deseados.</a:t>
            </a:r>
            <a:endParaRPr sz="20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386" name="Google Shape;1386;p7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87" name="Google Shape;1387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88" name="Google Shape;1388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0" name="Google Shape;1400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3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73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Dataset de esta clase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7" name="Google Shape;1407;p73"/>
          <p:cNvSpPr txBox="1"/>
          <p:nvPr/>
        </p:nvSpPr>
        <p:spPr>
          <a:xfrm>
            <a:off x="800775" y="839600"/>
            <a:ext cx="754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clase, vamos a explorar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datos de una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inmobiliaria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relacionados con la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venta de a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partamentos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ciudad de Buenos Aires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Usaremos funciones de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agregación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para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obtener métricas importantes de este dataset.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08" name="Google Shape;1408;p73"/>
          <p:cNvSpPr txBox="1"/>
          <p:nvPr/>
        </p:nvSpPr>
        <p:spPr>
          <a:xfrm>
            <a:off x="1819350" y="4150000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LINK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al dataset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409" name="Google Shape;1409;p73"/>
          <p:cNvGrpSpPr/>
          <p:nvPr/>
        </p:nvGrpSpPr>
        <p:grpSpPr>
          <a:xfrm rot="5400000">
            <a:off x="2396196" y="4191869"/>
            <a:ext cx="367054" cy="484489"/>
            <a:chOff x="4167206" y="5024326"/>
            <a:chExt cx="904966" cy="1194501"/>
          </a:xfrm>
        </p:grpSpPr>
        <p:sp>
          <p:nvSpPr>
            <p:cNvPr id="1410" name="Google Shape;1410;p73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73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73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73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73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73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73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73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18" name="Google Shape;1418;p73" title="data2.png"/>
          <p:cNvPicPr preferRelativeResize="0"/>
          <p:nvPr/>
        </p:nvPicPr>
        <p:blipFill rotWithShape="1">
          <a:blip r:embed="rId4">
            <a:alphaModFix/>
          </a:blip>
          <a:srcRect b="0" l="1095" r="1095" t="0"/>
          <a:stretch/>
        </p:blipFill>
        <p:spPr>
          <a:xfrm>
            <a:off x="1344313" y="1782694"/>
            <a:ext cx="6455524" cy="2121994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19" name="Google Shape;1419;p7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20" name="Google Shape;1420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21" name="Google Shape;1421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3" name="Google Shape;1433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74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74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Seleccionar una columna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0" name="Google Shape;1440;p74"/>
          <p:cNvSpPr txBox="1"/>
          <p:nvPr/>
        </p:nvSpPr>
        <p:spPr>
          <a:xfrm>
            <a:off x="4722250" y="1546962"/>
            <a:ext cx="39648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Cuando trabajamos con datos, a veces queremos seleccionar solo una Serie en lugar de todo el DataFrame.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forma más simple es usando 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corchetes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Si tenemos un conjunto de datos llamado 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df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queremos seleccionar la columna “CALLE”, escribimos 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df[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"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CALLE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"</a:t>
            </a:r>
            <a:r>
              <a:rPr b="1" lang="es-419" sz="15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]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41" name="Google Shape;144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37" y="1100541"/>
            <a:ext cx="3964800" cy="315540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42" name="Google Shape;1442;p7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43" name="Google Shape;1443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44" name="Google Shape;1444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6" name="Google Shape;1456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Google Shape;146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062" y="792491"/>
            <a:ext cx="3964800" cy="315540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2" name="Google Shape;1462;p75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75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Seleccionar una columna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4" name="Google Shape;1464;p75"/>
          <p:cNvSpPr txBox="1"/>
          <p:nvPr/>
        </p:nvSpPr>
        <p:spPr>
          <a:xfrm>
            <a:off x="703813" y="1164944"/>
            <a:ext cx="3621300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Técnicamente, en Pandas nos referimos a las </a:t>
            </a:r>
            <a:r>
              <a:rPr b="1" lang="es-419" sz="18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columnas</a:t>
            </a:r>
            <a:r>
              <a:rPr b="1"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</a:t>
            </a:r>
            <a:r>
              <a:rPr b="1" lang="es-419" sz="18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‘series’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Pero, a lo largo de este curso, podemos usar ambas palabras como sinónimos en la mayoría de los contextos.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65" name="Google Shape;1465;p75"/>
          <p:cNvSpPr/>
          <p:nvPr/>
        </p:nvSpPr>
        <p:spPr>
          <a:xfrm>
            <a:off x="4629975" y="3702100"/>
            <a:ext cx="939600" cy="2478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5"/>
          <p:cNvSpPr/>
          <p:nvPr/>
        </p:nvSpPr>
        <p:spPr>
          <a:xfrm>
            <a:off x="5650028" y="3949888"/>
            <a:ext cx="3417900" cy="710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Nombre de la serie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(es el encabezado de la columna)</a:t>
            </a:r>
            <a:endParaRPr sz="1500"/>
          </a:p>
        </p:txBody>
      </p:sp>
      <p:cxnSp>
        <p:nvCxnSpPr>
          <p:cNvPr id="1467" name="Google Shape;1467;p75"/>
          <p:cNvCxnSpPr>
            <a:stCxn id="1466" idx="1"/>
            <a:endCxn id="1465" idx="2"/>
          </p:cNvCxnSpPr>
          <p:nvPr/>
        </p:nvCxnSpPr>
        <p:spPr>
          <a:xfrm rot="10800000">
            <a:off x="5099828" y="3950038"/>
            <a:ext cx="550200" cy="355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8" name="Google Shape;1468;p75"/>
          <p:cNvSpPr/>
          <p:nvPr/>
        </p:nvSpPr>
        <p:spPr>
          <a:xfrm>
            <a:off x="4630050" y="2264175"/>
            <a:ext cx="589200" cy="1345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75"/>
          <p:cNvSpPr/>
          <p:nvPr/>
        </p:nvSpPr>
        <p:spPr>
          <a:xfrm>
            <a:off x="456972" y="4102250"/>
            <a:ext cx="3804600" cy="710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Índice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la serie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(Pandas lo genera cuando lee el dataset)</a:t>
            </a:r>
            <a:endParaRPr sz="1500"/>
          </a:p>
        </p:txBody>
      </p:sp>
      <p:cxnSp>
        <p:nvCxnSpPr>
          <p:cNvPr id="1470" name="Google Shape;1470;p75"/>
          <p:cNvCxnSpPr>
            <a:stCxn id="1469" idx="0"/>
            <a:endCxn id="1468" idx="1"/>
          </p:cNvCxnSpPr>
          <p:nvPr/>
        </p:nvCxnSpPr>
        <p:spPr>
          <a:xfrm flipH="1" rot="10800000">
            <a:off x="2359272" y="2937050"/>
            <a:ext cx="2270700" cy="1165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71" name="Google Shape;1471;p7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72" name="Google Shape;1472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73" name="Google Shape;1473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5" name="Google Shape;1485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6"/>
          <p:cNvSpPr txBox="1"/>
          <p:nvPr>
            <p:ph idx="2" type="title"/>
          </p:nvPr>
        </p:nvSpPr>
        <p:spPr>
          <a:xfrm>
            <a:off x="1468125" y="1807500"/>
            <a:ext cx="5970000" cy="12237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Funciones de agregación en análisis de datos: </a:t>
            </a:r>
            <a:endParaRPr b="1"/>
          </a:p>
        </p:txBody>
      </p:sp>
      <p:grpSp>
        <p:nvGrpSpPr>
          <p:cNvPr id="1491" name="Google Shape;1491;p7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92" name="Google Shape;1492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93" name="Google Shape;1493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05" name="Google Shape;1505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77"/>
          <p:cNvSpPr txBox="1"/>
          <p:nvPr>
            <p:ph type="title"/>
          </p:nvPr>
        </p:nvSpPr>
        <p:spPr>
          <a:xfrm>
            <a:off x="541650" y="362688"/>
            <a:ext cx="4214100" cy="35568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A continuación, veremos ejemplos de las </a:t>
            </a:r>
            <a:r>
              <a:rPr b="1" lang="es-419" sz="1800">
                <a:latin typeface="Archivo"/>
                <a:ea typeface="Archivo"/>
                <a:cs typeface="Archivo"/>
                <a:sym typeface="Archivo"/>
              </a:rPr>
              <a:t>funciones de agregación más usadas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 aplicadas a una columna o serie.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 </a:t>
            </a:r>
            <a:br>
              <a:rPr lang="es-419" sz="1500">
                <a:latin typeface="Archivo"/>
                <a:ea typeface="Archivo"/>
                <a:cs typeface="Archivo"/>
                <a:sym typeface="Archivo"/>
              </a:rPr>
            </a:b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min()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.max()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.mean()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.sum()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.count()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.unique()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.nunique()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.value_counts()</a:t>
            </a:r>
            <a:endParaRPr b="1" sz="1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11" name="Google Shape;1511;p77"/>
          <p:cNvSpPr txBox="1"/>
          <p:nvPr/>
        </p:nvSpPr>
        <p:spPr>
          <a:xfrm>
            <a:off x="2633775" y="3893988"/>
            <a:ext cx="2274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 u="sng">
                <a:solidFill>
                  <a:schemeClr val="hlink"/>
                </a:solidFill>
                <a:highlight>
                  <a:srgbClr val="FFFFFF"/>
                </a:highlight>
                <a:latin typeface="Archivo"/>
                <a:ea typeface="Archivo"/>
                <a:cs typeface="Archivo"/>
                <a:sym typeface="Archivo"/>
                <a:hlinkClick r:id="rId3"/>
              </a:rPr>
              <a:t>L</a:t>
            </a:r>
            <a:r>
              <a:rPr b="1" lang="es-419" sz="1500" u="sng">
                <a:solidFill>
                  <a:schemeClr val="hlink"/>
                </a:solidFill>
                <a:highlight>
                  <a:srgbClr val="FFFFFF"/>
                </a:highlight>
                <a:latin typeface="Archivo"/>
                <a:ea typeface="Archivo"/>
                <a:cs typeface="Archivo"/>
                <a:sym typeface="Archivo"/>
                <a:hlinkClick r:id="rId4"/>
              </a:rPr>
              <a:t>INK</a:t>
            </a:r>
            <a:r>
              <a:rPr lang="es-419" sz="1500">
                <a:solidFill>
                  <a:srgbClr val="161616"/>
                </a:solidFill>
                <a:highlight>
                  <a:srgbClr val="FFFFFF"/>
                </a:highlight>
                <a:latin typeface="Archivo"/>
                <a:ea typeface="Archivo"/>
                <a:cs typeface="Archivo"/>
                <a:sym typeface="Archivo"/>
              </a:rPr>
              <a:t> a documentación</a:t>
            </a:r>
            <a:endParaRPr sz="1500">
              <a:solidFill>
                <a:srgbClr val="161616"/>
              </a:solidFill>
              <a:highlight>
                <a:srgbClr val="FFFFFF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512" name="Google Shape;1512;p77"/>
          <p:cNvGrpSpPr/>
          <p:nvPr/>
        </p:nvGrpSpPr>
        <p:grpSpPr>
          <a:xfrm rot="5400000">
            <a:off x="2139059" y="3961594"/>
            <a:ext cx="367054" cy="484489"/>
            <a:chOff x="4167206" y="5024326"/>
            <a:chExt cx="904966" cy="1194501"/>
          </a:xfrm>
        </p:grpSpPr>
        <p:sp>
          <p:nvSpPr>
            <p:cNvPr id="1513" name="Google Shape;1513;p77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77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77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77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77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77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77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77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1" name="Google Shape;1521;p7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22" name="Google Shape;1522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23" name="Google Shape;1523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5" name="Google Shape;1535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78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78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42" name="Google Shape;1542;p78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43" name="Google Shape;1543;p78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.min()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4" name="Google Shape;1544;p78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.max()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5" name="Google Shape;1545;p78"/>
          <p:cNvSpPr txBox="1"/>
          <p:nvPr>
            <p:ph idx="1" type="body"/>
          </p:nvPr>
        </p:nvSpPr>
        <p:spPr>
          <a:xfrm>
            <a:off x="410375" y="3401736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el valor </a:t>
            </a:r>
            <a:r>
              <a:rPr b="1" lang="es-419" sz="1700">
                <a:latin typeface="Archivo"/>
                <a:ea typeface="Archivo"/>
                <a:cs typeface="Archivo"/>
                <a:sym typeface="Archivo"/>
              </a:rPr>
              <a:t>mínimo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de un conjunto de datos o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46" name="Google Shape;1546;p78"/>
          <p:cNvSpPr txBox="1"/>
          <p:nvPr>
            <p:ph idx="2" type="body"/>
          </p:nvPr>
        </p:nvSpPr>
        <p:spPr>
          <a:xfrm>
            <a:off x="5204081" y="3349713"/>
            <a:ext cx="32883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el valor </a:t>
            </a:r>
            <a:r>
              <a:rPr b="1" lang="es-419" sz="1700">
                <a:latin typeface="Archivo"/>
                <a:ea typeface="Archivo"/>
                <a:cs typeface="Archivo"/>
                <a:sym typeface="Archivo"/>
              </a:rPr>
              <a:t>máximo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de un conjunto de datos o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547" name="Google Shape;1547;p78"/>
          <p:cNvPicPr preferRelativeResize="0"/>
          <p:nvPr/>
        </p:nvPicPr>
        <p:blipFill rotWithShape="1">
          <a:blip r:embed="rId3">
            <a:alphaModFix/>
          </a:blip>
          <a:srcRect b="0" l="0" r="0" t="2210"/>
          <a:stretch/>
        </p:blipFill>
        <p:spPr>
          <a:xfrm>
            <a:off x="936200" y="1009050"/>
            <a:ext cx="2735550" cy="2240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8" name="Google Shape;154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725" y="1041549"/>
            <a:ext cx="2720352" cy="2240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49" name="Google Shape;1549;p7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50" name="Google Shape;1550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51" name="Google Shape;1551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3" name="Google Shape;1563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79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9" name="Google Shape;1569;p79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70" name="Google Shape;1570;p79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71" name="Google Shape;1571;p79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.mean()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2" name="Google Shape;1572;p79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.sum()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3" name="Google Shape;1573;p79"/>
          <p:cNvSpPr txBox="1"/>
          <p:nvPr>
            <p:ph idx="1" type="body"/>
          </p:nvPr>
        </p:nvSpPr>
        <p:spPr>
          <a:xfrm>
            <a:off x="410375" y="3401736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1700">
                <a:latin typeface="Archivo"/>
                <a:ea typeface="Archivo"/>
                <a:cs typeface="Archivo"/>
                <a:sym typeface="Archivo"/>
              </a:rPr>
            </a:b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el valor </a:t>
            </a:r>
            <a:r>
              <a:rPr b="1" lang="es-419" sz="1700">
                <a:latin typeface="Archivo"/>
                <a:ea typeface="Archivo"/>
                <a:cs typeface="Archivo"/>
                <a:sym typeface="Archivo"/>
              </a:rPr>
              <a:t>promedio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de un conjunto de datos o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4" name="Google Shape;1574;p79"/>
          <p:cNvSpPr txBox="1"/>
          <p:nvPr>
            <p:ph idx="2" type="body"/>
          </p:nvPr>
        </p:nvSpPr>
        <p:spPr>
          <a:xfrm>
            <a:off x="4755800" y="3201663"/>
            <a:ext cx="40488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la </a:t>
            </a:r>
            <a:r>
              <a:rPr b="1" lang="es-419" sz="1700">
                <a:latin typeface="Archivo"/>
                <a:ea typeface="Archivo"/>
                <a:cs typeface="Archivo"/>
                <a:sym typeface="Archivo"/>
              </a:rPr>
              <a:t>suma de todos los valores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575" name="Google Shape;15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875" y="997550"/>
            <a:ext cx="2712325" cy="229086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6" name="Google Shape;1576;p79"/>
          <p:cNvPicPr preferRelativeResize="0"/>
          <p:nvPr/>
        </p:nvPicPr>
        <p:blipFill rotWithShape="1">
          <a:blip r:embed="rId4">
            <a:alphaModFix/>
          </a:blip>
          <a:srcRect b="0" l="0" r="0" t="1009"/>
          <a:stretch/>
        </p:blipFill>
        <p:spPr>
          <a:xfrm>
            <a:off x="5493726" y="997550"/>
            <a:ext cx="2708836" cy="22908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77" name="Google Shape;1577;p7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78" name="Google Shape;1578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79" name="Google Shape;1579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1" name="Google Shape;1591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80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80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98" name="Google Shape;1598;p80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99" name="Google Shape;1599;p80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.count()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0" name="Google Shape;1600;p80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.unique()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1" name="Google Shape;1601;p80"/>
          <p:cNvSpPr txBox="1"/>
          <p:nvPr>
            <p:ph idx="1" type="body"/>
          </p:nvPr>
        </p:nvSpPr>
        <p:spPr>
          <a:xfrm>
            <a:off x="380113" y="3516036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evuelve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la </a:t>
            </a:r>
            <a:r>
              <a:rPr b="1" lang="es-419" sz="1700">
                <a:latin typeface="Archivo"/>
                <a:ea typeface="Archivo"/>
                <a:cs typeface="Archivo"/>
                <a:sym typeface="Archivo"/>
              </a:rPr>
              <a:t>cantidad total de elementos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que no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estén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vacíos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(nulos) de un conjunto de datos o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02" name="Google Shape;1602;p80"/>
          <p:cNvSpPr txBox="1"/>
          <p:nvPr>
            <p:ph idx="2" type="body"/>
          </p:nvPr>
        </p:nvSpPr>
        <p:spPr>
          <a:xfrm>
            <a:off x="5205750" y="3525788"/>
            <a:ext cx="32883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una lista con los valores únicos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603" name="Google Shape;160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038" y="939238"/>
            <a:ext cx="2902035" cy="240516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4" name="Google Shape;1604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3950" y="963360"/>
            <a:ext cx="2971923" cy="24051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05" name="Google Shape;1605;p8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06" name="Google Shape;1606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07" name="Google Shape;1607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9" name="Google Shape;1619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81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81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626" name="Google Shape;1626;p81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627" name="Google Shape;1627;p81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.nunique()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8" name="Google Shape;1628;p81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.value_counts()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9" name="Google Shape;1629;p81"/>
          <p:cNvSpPr txBox="1"/>
          <p:nvPr>
            <p:ph idx="1" type="body"/>
          </p:nvPr>
        </p:nvSpPr>
        <p:spPr>
          <a:xfrm>
            <a:off x="410375" y="3401736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evuelve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la cantidad de valores únicos de un conjunto de datos o de una columna en particular.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30" name="Google Shape;1630;p81"/>
          <p:cNvSpPr txBox="1"/>
          <p:nvPr>
            <p:ph idx="2" type="body"/>
          </p:nvPr>
        </p:nvSpPr>
        <p:spPr>
          <a:xfrm>
            <a:off x="4862750" y="3212963"/>
            <a:ext cx="41799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una tabla que muestra cada valor único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 una columna particular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y la cantidad de veces que aparece ese valor.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31" name="Google Shape;1631;p8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32" name="Google Shape;1632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3" name="Google Shape;1633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5" name="Google Shape;1645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646" name="Google Shape;164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850" y="1074043"/>
            <a:ext cx="2594243" cy="202124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47" name="Google Shape;164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204" y="1074038"/>
            <a:ext cx="2179896" cy="2067162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82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Funciones de agregación</a:t>
            </a:r>
            <a:endParaRPr sz="700"/>
          </a:p>
        </p:txBody>
      </p:sp>
      <p:sp>
        <p:nvSpPr>
          <p:cNvPr id="1653" name="Google Shape;1653;p82"/>
          <p:cNvSpPr txBox="1"/>
          <p:nvPr/>
        </p:nvSpPr>
        <p:spPr>
          <a:xfrm>
            <a:off x="456950" y="1203500"/>
            <a:ext cx="8230200" cy="26784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Con las funciones de agregación, hemos descubierto una técnica muy útil para resumir información de nuestro </a:t>
            </a:r>
            <a:r>
              <a:rPr b="1" lang="es-419" sz="2000">
                <a:highlight>
                  <a:schemeClr val="accent3"/>
                </a:highlight>
                <a:latin typeface="Montserrat"/>
                <a:ea typeface="Montserrat"/>
                <a:cs typeface="Montserrat"/>
                <a:sym typeface="Montserrat"/>
              </a:rPr>
              <a:t>DataFrame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. </a:t>
            </a:r>
            <a:br>
              <a:rPr lang="es-419" sz="2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Pero ahora, ¡vamos a darle un toque más interesante!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419" sz="2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¿Te has preguntado cómo podemos </a:t>
            </a:r>
            <a:r>
              <a:rPr b="1" lang="es-419" sz="2000"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crear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 una columna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para guardar datos adicionales 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de manera sencilla,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2000">
                <a:highlight>
                  <a:schemeClr val="accent5"/>
                </a:highlight>
                <a:latin typeface="Montserrat"/>
                <a:ea typeface="Montserrat"/>
                <a:cs typeface="Montserrat"/>
                <a:sym typeface="Montserrat"/>
              </a:rPr>
              <a:t>eliminar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 alguna que no necesitemos o </a:t>
            </a:r>
            <a:r>
              <a:rPr b="1" lang="es-419" sz="2000"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reasignar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 valores a columnas existentes?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54" name="Google Shape;1654;p8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55" name="Google Shape;1655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56" name="Google Shape;1656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83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674" name="Google Shape;1674;p83"/>
          <p:cNvSpPr txBox="1"/>
          <p:nvPr/>
        </p:nvSpPr>
        <p:spPr>
          <a:xfrm>
            <a:off x="393387" y="2285700"/>
            <a:ext cx="38676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Crear columnas, eliminarlas o reasignar valores</a:t>
            </a:r>
            <a:endParaRPr b="1"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5" name="Google Shape;1675;p83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676" name="Google Shape;1676;p83"/>
          <p:cNvCxnSpPr>
            <a:stCxn id="167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7" name="Google Shape;1677;p83"/>
          <p:cNvCxnSpPr>
            <a:stCxn id="167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78" name="Google Shape;1678;p83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679" name="Google Shape;1679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80" name="Google Shape;1680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1" name="Google Shape;1681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2" name="Google Shape;1682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2" name="Google Shape;1692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93" name="Google Shape;1693;p83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694" name="Google Shape;1694;p83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83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83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83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83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83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83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83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83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83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83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83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83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83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83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83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83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83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83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83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14" name="Google Shape;1714;p83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15" name="Google Shape;1715;p83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16" name="Google Shape;1716;p83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83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83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83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20" name="Google Shape;1720;p83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83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22" name="Google Shape;1722;p83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83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83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83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83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83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83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83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83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83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83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83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83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83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83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83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83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3" name="Google Shape;174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220" y="2504881"/>
            <a:ext cx="3569561" cy="9234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4" name="Google Shape;1744;p8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8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Crear una columna en un DataFrame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6" name="Google Shape;1746;p8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7" name="Google Shape;1747;p8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48" name="Google Shape;1748;p8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8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0" name="Google Shape;1750;p84"/>
          <p:cNvSpPr/>
          <p:nvPr/>
        </p:nvSpPr>
        <p:spPr>
          <a:xfrm>
            <a:off x="456900" y="2706925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Seleccionamos el DataFrame.</a:t>
            </a:r>
            <a:endParaRPr b="1" sz="1500"/>
          </a:p>
        </p:txBody>
      </p:sp>
      <p:cxnSp>
        <p:nvCxnSpPr>
          <p:cNvPr id="1751" name="Google Shape;1751;p84"/>
          <p:cNvCxnSpPr>
            <a:stCxn id="1750" idx="3"/>
          </p:cNvCxnSpPr>
          <p:nvPr/>
        </p:nvCxnSpPr>
        <p:spPr>
          <a:xfrm flipH="1" rot="10800000">
            <a:off x="2332500" y="3050425"/>
            <a:ext cx="897000" cy="118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2" name="Google Shape;1752;p84"/>
          <p:cNvSpPr/>
          <p:nvPr/>
        </p:nvSpPr>
        <p:spPr>
          <a:xfrm>
            <a:off x="1576726" y="1192100"/>
            <a:ext cx="26637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Elegimos el nombre de la nueva columna.</a:t>
            </a:r>
            <a:endParaRPr b="1" sz="1500"/>
          </a:p>
        </p:txBody>
      </p:sp>
      <p:cxnSp>
        <p:nvCxnSpPr>
          <p:cNvPr id="1753" name="Google Shape;1753;p84"/>
          <p:cNvCxnSpPr>
            <a:stCxn id="1752" idx="2"/>
          </p:cNvCxnSpPr>
          <p:nvPr/>
        </p:nvCxnSpPr>
        <p:spPr>
          <a:xfrm>
            <a:off x="2908576" y="2115500"/>
            <a:ext cx="978300" cy="723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4" name="Google Shape;1754;p84"/>
          <p:cNvSpPr/>
          <p:nvPr/>
        </p:nvSpPr>
        <p:spPr>
          <a:xfrm>
            <a:off x="5543425" y="1192100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Utilizamos el operador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“igual” (=)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asignar el valor.</a:t>
            </a:r>
            <a:endParaRPr sz="1500"/>
          </a:p>
        </p:txBody>
      </p:sp>
      <p:sp>
        <p:nvSpPr>
          <p:cNvPr id="1755" name="Google Shape;1755;p84"/>
          <p:cNvSpPr/>
          <p:nvPr/>
        </p:nvSpPr>
        <p:spPr>
          <a:xfrm>
            <a:off x="84925" y="4540550"/>
            <a:ext cx="2126400" cy="57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6" name="Google Shape;1756;p84"/>
          <p:cNvCxnSpPr>
            <a:stCxn id="1754" idx="2"/>
          </p:cNvCxnSpPr>
          <p:nvPr/>
        </p:nvCxnSpPr>
        <p:spPr>
          <a:xfrm flipH="1">
            <a:off x="4767025" y="2115500"/>
            <a:ext cx="1760400" cy="7389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7" name="Google Shape;1757;p84"/>
          <p:cNvSpPr txBox="1"/>
          <p:nvPr/>
        </p:nvSpPr>
        <p:spPr>
          <a:xfrm>
            <a:off x="1830763" y="3963525"/>
            <a:ext cx="598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ejemplo, creamos una nueva columna en el DataFrame df con el nombre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"PAÍS"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 la que le asignamos el valor “Argentina” a cada registro.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58" name="Google Shape;175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436" y="3989701"/>
            <a:ext cx="400193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84"/>
          <p:cNvSpPr/>
          <p:nvPr/>
        </p:nvSpPr>
        <p:spPr>
          <a:xfrm>
            <a:off x="6849600" y="2504875"/>
            <a:ext cx="1968000" cy="130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Asignamos el valor elegido para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los registros de la columna.</a:t>
            </a:r>
            <a:endParaRPr b="1" sz="1500"/>
          </a:p>
        </p:txBody>
      </p:sp>
      <p:cxnSp>
        <p:nvCxnSpPr>
          <p:cNvPr id="1760" name="Google Shape;1760;p84"/>
          <p:cNvCxnSpPr>
            <a:stCxn id="1759" idx="1"/>
          </p:cNvCxnSpPr>
          <p:nvPr/>
        </p:nvCxnSpPr>
        <p:spPr>
          <a:xfrm rot="10800000">
            <a:off x="6299400" y="3087775"/>
            <a:ext cx="550200" cy="705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61" name="Google Shape;1761;p8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62" name="Google Shape;1762;p8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63" name="Google Shape;1763;p8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4" name="Google Shape;1764;p8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5" name="Google Shape;1765;p8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6" name="Google Shape;1766;p8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8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8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8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8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8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8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8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8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75" name="Google Shape;1775;p8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0" name="Google Shape;178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050" y="2639825"/>
            <a:ext cx="2819500" cy="892842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1" name="Google Shape;1781;p85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85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Reasignar nuevos valores a una columna o serie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3" name="Google Shape;1783;p85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4" name="Google Shape;1784;p85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85" name="Google Shape;1785;p8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8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7" name="Google Shape;1787;p85"/>
          <p:cNvSpPr/>
          <p:nvPr/>
        </p:nvSpPr>
        <p:spPr>
          <a:xfrm>
            <a:off x="524438" y="1727638"/>
            <a:ext cx="1875600" cy="10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Seleccionamos una columna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existente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DataFrame.</a:t>
            </a:r>
            <a:endParaRPr b="1" sz="1500"/>
          </a:p>
        </p:txBody>
      </p:sp>
      <p:cxnSp>
        <p:nvCxnSpPr>
          <p:cNvPr id="1788" name="Google Shape;1788;p85"/>
          <p:cNvCxnSpPr>
            <a:stCxn id="1787" idx="3"/>
          </p:cNvCxnSpPr>
          <p:nvPr/>
        </p:nvCxnSpPr>
        <p:spPr>
          <a:xfrm>
            <a:off x="2400038" y="2256988"/>
            <a:ext cx="1372800" cy="820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9" name="Google Shape;1789;p85"/>
          <p:cNvSpPr/>
          <p:nvPr/>
        </p:nvSpPr>
        <p:spPr>
          <a:xfrm>
            <a:off x="3809788" y="1071981"/>
            <a:ext cx="1968000" cy="92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Utilizamos el operador “igual” (=) para asignar el valor.</a:t>
            </a:r>
            <a:endParaRPr sz="1500"/>
          </a:p>
        </p:txBody>
      </p:sp>
      <p:cxnSp>
        <p:nvCxnSpPr>
          <p:cNvPr id="1790" name="Google Shape;1790;p85"/>
          <p:cNvCxnSpPr>
            <a:stCxn id="1789" idx="2"/>
          </p:cNvCxnSpPr>
          <p:nvPr/>
        </p:nvCxnSpPr>
        <p:spPr>
          <a:xfrm>
            <a:off x="4793788" y="1995381"/>
            <a:ext cx="662700" cy="1033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1" name="Google Shape;1791;p85"/>
          <p:cNvSpPr txBox="1"/>
          <p:nvPr/>
        </p:nvSpPr>
        <p:spPr>
          <a:xfrm>
            <a:off x="1830763" y="4035888"/>
            <a:ext cx="5983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ejemplo, reasignamos nuevos valores a la columna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"LAVADERO"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que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serán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actualizado por el valor “S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Í”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92" name="Google Shape;179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436" y="4062064"/>
            <a:ext cx="400193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85"/>
          <p:cNvSpPr/>
          <p:nvPr/>
        </p:nvSpPr>
        <p:spPr>
          <a:xfrm>
            <a:off x="6849600" y="2504875"/>
            <a:ext cx="1968000" cy="1306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Asignamos el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nuevo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valor elegido para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todos los registros de la columna.</a:t>
            </a:r>
            <a:endParaRPr b="1" sz="1500"/>
          </a:p>
        </p:txBody>
      </p:sp>
      <p:cxnSp>
        <p:nvCxnSpPr>
          <p:cNvPr id="1794" name="Google Shape;1794;p85"/>
          <p:cNvCxnSpPr>
            <a:stCxn id="1793" idx="1"/>
            <a:endCxn id="1780" idx="3"/>
          </p:cNvCxnSpPr>
          <p:nvPr/>
        </p:nvCxnSpPr>
        <p:spPr>
          <a:xfrm rot="10800000">
            <a:off x="6203700" y="3086275"/>
            <a:ext cx="645900" cy="7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5" name="Google Shape;1795;p85"/>
          <p:cNvSpPr/>
          <p:nvPr/>
        </p:nvSpPr>
        <p:spPr>
          <a:xfrm>
            <a:off x="84925" y="4540550"/>
            <a:ext cx="2126400" cy="57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6" name="Google Shape;1796;p8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97" name="Google Shape;1797;p8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98" name="Google Shape;1798;p8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8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8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1" name="Google Shape;1801;p8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2" name="Google Shape;1802;p8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8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4" name="Google Shape;1804;p8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5" name="Google Shape;1805;p8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6" name="Google Shape;1806;p8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7" name="Google Shape;1807;p8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8" name="Google Shape;1808;p8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9" name="Google Shape;1809;p8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0" name="Google Shape;1810;p8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181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376" y="2723985"/>
            <a:ext cx="3301775" cy="724527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6" name="Google Shape;1816;p8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8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Eliminar una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columna o serie de un DataFrame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8" name="Google Shape;1818;p8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9" name="Google Shape;1819;p8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820" name="Google Shape;1820;p8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8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2" name="Google Shape;1822;p86"/>
          <p:cNvSpPr/>
          <p:nvPr/>
        </p:nvSpPr>
        <p:spPr>
          <a:xfrm>
            <a:off x="456900" y="2706925"/>
            <a:ext cx="1875600" cy="92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Seleccionamos el DataFrame que queremos actualizar.</a:t>
            </a:r>
            <a:endParaRPr b="1" sz="1500"/>
          </a:p>
        </p:txBody>
      </p:sp>
      <p:cxnSp>
        <p:nvCxnSpPr>
          <p:cNvPr id="1823" name="Google Shape;1823;p86"/>
          <p:cNvCxnSpPr>
            <a:stCxn id="1822" idx="3"/>
          </p:cNvCxnSpPr>
          <p:nvPr/>
        </p:nvCxnSpPr>
        <p:spPr>
          <a:xfrm>
            <a:off x="2332500" y="3168625"/>
            <a:ext cx="1035000" cy="21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4" name="Google Shape;1824;p86"/>
          <p:cNvSpPr/>
          <p:nvPr/>
        </p:nvSpPr>
        <p:spPr>
          <a:xfrm>
            <a:off x="1576726" y="1192100"/>
            <a:ext cx="2663700" cy="92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Utilizamos el método .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drop()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DataFrame (df).</a:t>
            </a:r>
            <a:endParaRPr b="1" sz="1500"/>
          </a:p>
        </p:txBody>
      </p:sp>
      <p:cxnSp>
        <p:nvCxnSpPr>
          <p:cNvPr id="1825" name="Google Shape;1825;p86"/>
          <p:cNvCxnSpPr>
            <a:stCxn id="1824" idx="2"/>
          </p:cNvCxnSpPr>
          <p:nvPr/>
        </p:nvCxnSpPr>
        <p:spPr>
          <a:xfrm>
            <a:off x="2908576" y="2115500"/>
            <a:ext cx="1301700" cy="871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6" name="Google Shape;1826;p86"/>
          <p:cNvSpPr/>
          <p:nvPr/>
        </p:nvSpPr>
        <p:spPr>
          <a:xfrm>
            <a:off x="5543425" y="1192100"/>
            <a:ext cx="1968000" cy="923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Colocamos el nombre de la columna que queremos eliminar.</a:t>
            </a:r>
            <a:endParaRPr sz="1500"/>
          </a:p>
        </p:txBody>
      </p:sp>
      <p:cxnSp>
        <p:nvCxnSpPr>
          <p:cNvPr id="1827" name="Google Shape;1827;p86"/>
          <p:cNvCxnSpPr>
            <a:stCxn id="1826" idx="2"/>
          </p:cNvCxnSpPr>
          <p:nvPr/>
        </p:nvCxnSpPr>
        <p:spPr>
          <a:xfrm flipH="1">
            <a:off x="5053525" y="2115500"/>
            <a:ext cx="1473900" cy="84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8" name="Google Shape;1828;p86"/>
          <p:cNvSpPr txBox="1"/>
          <p:nvPr/>
        </p:nvSpPr>
        <p:spPr>
          <a:xfrm>
            <a:off x="1830763" y="4035888"/>
            <a:ext cx="5983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ejemplo, eliminamos la columna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"BAÑOS" con el método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.drop() y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actualizamos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(reasignamos) el df original.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29" name="Google Shape;182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436" y="4062064"/>
            <a:ext cx="400193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86"/>
          <p:cNvSpPr/>
          <p:nvPr/>
        </p:nvSpPr>
        <p:spPr>
          <a:xfrm>
            <a:off x="6849600" y="2504875"/>
            <a:ext cx="1968000" cy="1306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Usamos el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parámetro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axis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valor 1 para eliminar la columna.</a:t>
            </a:r>
            <a:endParaRPr b="1" sz="1500"/>
          </a:p>
        </p:txBody>
      </p:sp>
      <p:cxnSp>
        <p:nvCxnSpPr>
          <p:cNvPr id="1831" name="Google Shape;1831;p86"/>
          <p:cNvCxnSpPr>
            <a:stCxn id="1830" idx="1"/>
            <a:endCxn id="1815" idx="3"/>
          </p:cNvCxnSpPr>
          <p:nvPr/>
        </p:nvCxnSpPr>
        <p:spPr>
          <a:xfrm rot="10800000">
            <a:off x="6300300" y="3086275"/>
            <a:ext cx="549300" cy="72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2" name="Google Shape;1832;p86"/>
          <p:cNvSpPr/>
          <p:nvPr/>
        </p:nvSpPr>
        <p:spPr>
          <a:xfrm>
            <a:off x="84925" y="4540550"/>
            <a:ext cx="2126400" cy="57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3" name="Google Shape;1833;p8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34" name="Google Shape;1834;p8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35" name="Google Shape;1835;p8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8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8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8" name="Google Shape;1838;p8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9" name="Google Shape;1839;p8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0" name="Google Shape;1840;p8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1" name="Google Shape;1841;p8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2" name="Google Shape;1842;p8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3" name="Google Shape;1843;p8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4" name="Google Shape;1844;p8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5" name="Google Shape;1845;p8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6" name="Google Shape;1846;p8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7" name="Google Shape;1847;p8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87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Operaciones aritméticas</a:t>
            </a:r>
            <a:endParaRPr sz="2500">
              <a:solidFill>
                <a:srgbClr val="0C0C0C"/>
              </a:solidFill>
            </a:endParaRPr>
          </a:p>
        </p:txBody>
      </p:sp>
      <p:sp>
        <p:nvSpPr>
          <p:cNvPr id="1853" name="Google Shape;1853;p87"/>
          <p:cNvSpPr txBox="1"/>
          <p:nvPr/>
        </p:nvSpPr>
        <p:spPr>
          <a:xfrm>
            <a:off x="479688" y="972925"/>
            <a:ext cx="8184600" cy="33339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Las operaciones aritméticas nos ayudan a </a:t>
            </a:r>
            <a:r>
              <a:rPr b="1" lang="es-419" sz="1900">
                <a:latin typeface="Archivo"/>
                <a:ea typeface="Archivo"/>
                <a:cs typeface="Archivo"/>
                <a:sym typeface="Archivo"/>
              </a:rPr>
              <a:t>obtener información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 valiosa, </a:t>
            </a:r>
            <a:r>
              <a:rPr b="1" lang="es-419" sz="1900">
                <a:latin typeface="Archivo"/>
                <a:ea typeface="Archivo"/>
                <a:cs typeface="Archivo"/>
                <a:sym typeface="Archivo"/>
              </a:rPr>
              <a:t>transformar los datos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 de manera significativa y respaldar la toma de decisiones bas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ándose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 en datos.</a:t>
            </a:r>
            <a:endParaRPr sz="1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Podemos </a:t>
            </a:r>
            <a:r>
              <a:rPr b="1" lang="es-419" sz="1900"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sumar, restar, multiplicar y dividir</a:t>
            </a:r>
            <a:r>
              <a:rPr b="1" lang="es-419" sz="19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conjuntos de datos. </a:t>
            </a:r>
            <a:endParaRPr sz="1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Entonces, ¿cómo 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haríamos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 para calcular </a:t>
            </a: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el precio por metro cuadrado para tener una medida comparativa? ¿Y si quisiéramos obtener la dirección completa de cada propiedad? </a:t>
            </a:r>
            <a:endParaRPr sz="1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900">
                <a:latin typeface="Archivo"/>
                <a:ea typeface="Archivo"/>
                <a:cs typeface="Archivo"/>
                <a:sym typeface="Archivo"/>
              </a:rPr>
              <a:t>Estos datos nos brindarán una visión más completa y precisa del mercado inmobiliario en la ciudad.</a:t>
            </a:r>
            <a:endParaRPr sz="19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854" name="Google Shape;1854;p8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55" name="Google Shape;1855;p8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56" name="Google Shape;1856;p8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8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8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8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8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8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2" name="Google Shape;1862;p8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3" name="Google Shape;1863;p8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8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5" name="Google Shape;1865;p8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6" name="Google Shape;1866;p8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7" name="Google Shape;1867;p8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8" name="Google Shape;1868;p8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88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88"/>
          <p:cNvSpPr txBox="1"/>
          <p:nvPr/>
        </p:nvSpPr>
        <p:spPr>
          <a:xfrm>
            <a:off x="456950" y="140250"/>
            <a:ext cx="8230200" cy="3849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latin typeface="Montserrat"/>
                <a:ea typeface="Montserrat"/>
                <a:cs typeface="Montserrat"/>
                <a:sym typeface="Montserrat"/>
              </a:rPr>
              <a:t>Operaciones aritméticas - División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5" name="Google Shape;1875;p88"/>
          <p:cNvSpPr txBox="1"/>
          <p:nvPr/>
        </p:nvSpPr>
        <p:spPr>
          <a:xfrm>
            <a:off x="5550900" y="1316588"/>
            <a:ext cx="3136200" cy="2262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En esta fórmula, estamos creando una nueva columna llamada "PRECIO_M2" en el </a:t>
            </a:r>
            <a:r>
              <a:rPr b="1" lang="es-419" sz="1500">
                <a:highlight>
                  <a:schemeClr val="dk2"/>
                </a:highlight>
                <a:latin typeface="Montserrat"/>
                <a:ea typeface="Montserrat"/>
                <a:cs typeface="Montserrat"/>
                <a:sym typeface="Montserrat"/>
              </a:rPr>
              <a:t>DataFrame</a:t>
            </a: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df. Esta columna representa el precio por metro cuadrado y se calcula dividiendo el valor de la columna "PRECIO_D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Ó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LAR" por el valor de la columna "M2".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6" name="Google Shape;1876;p88"/>
          <p:cNvSpPr txBox="1"/>
          <p:nvPr/>
        </p:nvSpPr>
        <p:spPr>
          <a:xfrm>
            <a:off x="1830763" y="4019225"/>
            <a:ext cx="598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 aplicar la fórmula, cada valor en la columna '</a:t>
            </a:r>
            <a:r>
              <a:rPr lang="es-419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PRECIO_DÓLAR</a:t>
            </a:r>
            <a:r>
              <a:rPr lang="es-419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' se divide por el valor correspondiente en la columna 'M2' y se almacena el resultado en la columna 'PRECIO_M2'. Esto nos proporciona el precio por metro cuadrado de cada propiedad.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77" name="Google Shape;187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436" y="4045401"/>
            <a:ext cx="400193" cy="400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8" name="Google Shape;1878;p8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79" name="Google Shape;1879;p8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80" name="Google Shape;1880;p8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1" name="Google Shape;1881;p8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2" name="Google Shape;1882;p8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3" name="Google Shape;1883;p8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4" name="Google Shape;1884;p8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8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6" name="Google Shape;1886;p8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7" name="Google Shape;1887;p8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8" name="Google Shape;1888;p8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8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8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8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2" name="Google Shape;1892;p8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893" name="Google Shape;189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314" y="2017262"/>
            <a:ext cx="4781336" cy="6795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8" name="Google Shape;1898;p89" title="Captura de pantalla 2025-06-09 121018.png"/>
          <p:cNvPicPr preferRelativeResize="0"/>
          <p:nvPr/>
        </p:nvPicPr>
        <p:blipFill rotWithShape="1">
          <a:blip r:embed="rId3">
            <a:alphaModFix/>
          </a:blip>
          <a:srcRect b="0" l="2380" r="2380" t="0"/>
          <a:stretch/>
        </p:blipFill>
        <p:spPr>
          <a:xfrm>
            <a:off x="655587" y="943051"/>
            <a:ext cx="7832824" cy="11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89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9"/>
          <p:cNvSpPr txBox="1"/>
          <p:nvPr/>
        </p:nvSpPr>
        <p:spPr>
          <a:xfrm>
            <a:off x="2040600" y="2402325"/>
            <a:ext cx="5451900" cy="1246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En esta fórmula, estamos creando una nueva columna llamada "DIRECCI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Ó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N_COMPLETA" en el </a:t>
            </a:r>
            <a:r>
              <a:rPr b="1" lang="es-419" sz="1500"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DataFrame</a:t>
            </a:r>
            <a:r>
              <a:rPr b="1" lang="es-419" sz="15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 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En esta columna, se almacenan los datos de la 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concatenación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 entre "BARRIO", "CALLE" y "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NÚMERO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" separados por un espacio.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01" name="Google Shape;1901;p89"/>
          <p:cNvSpPr txBox="1"/>
          <p:nvPr/>
        </p:nvSpPr>
        <p:spPr>
          <a:xfrm>
            <a:off x="1838325" y="4171800"/>
            <a:ext cx="59838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función</a:t>
            </a: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3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.astype()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utiliza para cambiar el tipo de dato de una columna; como vemos en el ejemplo, cambiamos el tipo de dato </a:t>
            </a: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</a:t>
            </a:r>
            <a:r>
              <a:rPr b="1"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str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902" name="Google Shape;190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874" y="4133326"/>
            <a:ext cx="400193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89"/>
          <p:cNvSpPr txBox="1"/>
          <p:nvPr/>
        </p:nvSpPr>
        <p:spPr>
          <a:xfrm>
            <a:off x="456950" y="140250"/>
            <a:ext cx="8230200" cy="3849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latin typeface="Montserrat"/>
                <a:ea typeface="Montserrat"/>
                <a:cs typeface="Montserrat"/>
                <a:sym typeface="Montserrat"/>
              </a:rPr>
              <a:t>Operaciones aritméticas - Concatenación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4" name="Google Shape;1904;p89"/>
          <p:cNvSpPr/>
          <p:nvPr/>
        </p:nvSpPr>
        <p:spPr>
          <a:xfrm>
            <a:off x="846900" y="1621650"/>
            <a:ext cx="2222100" cy="2580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5" name="Google Shape;1905;p8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06" name="Google Shape;1906;p8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07" name="Google Shape;1907;p8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8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8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8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8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8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8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8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8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8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8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8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9" name="Google Shape;1919;p8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90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25" name="Google Shape;1925;p90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1926" name="Google Shape;1926;p90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7" name="Google Shape;1927;p90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8" name="Google Shape;1928;p90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9" name="Google Shape;1929;p90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0" name="Google Shape;1930;p90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1" name="Google Shape;1931;p90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2" name="Google Shape;1932;p9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933" name="Google Shape;1933;p9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9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5" name="Google Shape;1935;p9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1936" name="Google Shape;1936;p90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937" name="Google Shape;1937;p90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dos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cuestionarios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938" name="Google Shape;1938;p90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1939" name="Google Shape;1939;p90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90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90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90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90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90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0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90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90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90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90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90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90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90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90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4" name="Google Shape;1954;p9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55" name="Google Shape;1955;p9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56" name="Google Shape;1956;p9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9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9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9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9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9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9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9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9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9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9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9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8" name="Google Shape;1968;p9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91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74" name="Google Shape;1974;p91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1975" name="Google Shape;1975;p91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91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91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91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91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91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91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91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91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91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91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91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91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91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91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91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91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91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91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91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91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91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91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91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91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91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91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91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91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91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91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91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7" name="Google Shape;2007;p9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008" name="Google Shape;2008;p9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09" name="Google Shape;2009;p9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9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9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9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9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9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9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9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9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9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9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9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21" name="Google Shape;2021;p9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2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027" name="Google Shape;2027;p92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2028" name="Google Shape;2028;p92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92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92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92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92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92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92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92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92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92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92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92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92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92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92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92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92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92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92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92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92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92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92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92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92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92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92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92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92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8" name="Google Shape;2058;p92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2059" name="Google Shape;2059;p92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92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92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92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92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92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92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92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92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92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92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92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92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92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92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92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92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92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92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92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92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92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1" name="Google Shape;2081;p9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082" name="Google Shape;2082;p9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83" name="Google Shape;2083;p9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4" name="Google Shape;2084;p9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5" name="Google Shape;2085;p9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6" name="Google Shape;2086;p9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7" name="Google Shape;2087;p9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8" name="Google Shape;2088;p9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9" name="Google Shape;2089;p9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0" name="Google Shape;2090;p9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1" name="Google Shape;2091;p9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2" name="Google Shape;2092;p9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3" name="Google Shape;2093;p9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4" name="Google Shape;2094;p9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95" name="Google Shape;2095;p9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93"/>
          <p:cNvSpPr txBox="1"/>
          <p:nvPr/>
        </p:nvSpPr>
        <p:spPr>
          <a:xfrm>
            <a:off x="959788" y="391288"/>
            <a:ext cx="8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Funciones de agregación </a:t>
            </a: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1800">
              <a:solidFill>
                <a:schemeClr val="lt1"/>
              </a:solidFill>
            </a:endParaRPr>
          </a:p>
        </p:txBody>
      </p:sp>
      <p:grpSp>
        <p:nvGrpSpPr>
          <p:cNvPr id="2101" name="Google Shape;2101;p93"/>
          <p:cNvGrpSpPr/>
          <p:nvPr/>
        </p:nvGrpSpPr>
        <p:grpSpPr>
          <a:xfrm>
            <a:off x="6192937" y="1220037"/>
            <a:ext cx="2669525" cy="1168488"/>
            <a:chOff x="8750249" y="2583999"/>
            <a:chExt cx="5339050" cy="2336975"/>
          </a:xfrm>
        </p:grpSpPr>
        <p:sp>
          <p:nvSpPr>
            <p:cNvPr id="2102" name="Google Shape;2102;p93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93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93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93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93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93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93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93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93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93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93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93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93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93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93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93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93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93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93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93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93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93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93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93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93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93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93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93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93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93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93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93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93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93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93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93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93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93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93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93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93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93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93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93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93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47" name="Google Shape;2147;p93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148" name="Google Shape;2148;p93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149" name="Google Shape;2149;p93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50" name="Google Shape;2150;p93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51" name="Google Shape;2151;p93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2" name="Google Shape;2152;p93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93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93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93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56" name="Google Shape;2156;p93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157" name="Google Shape;2157;p93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8" name="Google Shape;2158;p93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9" name="Google Shape;2159;p93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160" name="Google Shape;2160;p93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61" name="Google Shape;2161;p93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162" name="Google Shape;2162;p93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3" name="Google Shape;2163;p93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64" name="Google Shape;2164;p93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165" name="Google Shape;2165;p93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166" name="Google Shape;2166;p93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67" name="Google Shape;2167;p93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68" name="Google Shape;2168;p93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69" name="Google Shape;2169;p93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170" name="Google Shape;2170;p93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1" name="Google Shape;2171;p93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72" name="Google Shape;2172;p93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173" name="Google Shape;2173;p93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174" name="Google Shape;2174;p93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5" name="Google Shape;2175;p93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76" name="Google Shape;2176;p93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77" name="Google Shape;2177;p93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78" name="Google Shape;2178;p93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179" name="Google Shape;2179;p93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0" name="Google Shape;2180;p93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1" name="Google Shape;2181;p93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2" name="Google Shape;2182;p93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3" name="Google Shape;2183;p93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4" name="Google Shape;2184;p93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5" name="Google Shape;2185;p93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6" name="Google Shape;2186;p93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7" name="Google Shape;2187;p93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8" name="Google Shape;2188;p93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9" name="Google Shape;2189;p93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0" name="Google Shape;2190;p93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1" name="Google Shape;2191;p93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2" name="Google Shape;2192;p93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3" name="Google Shape;2193;p93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4" name="Google Shape;2194;p93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5" name="Google Shape;2195;p93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6" name="Google Shape;2196;p93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7" name="Google Shape;2197;p93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8" name="Google Shape;2198;p93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9" name="Google Shape;2199;p93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0" name="Google Shape;2200;p93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1" name="Google Shape;2201;p93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2" name="Google Shape;2202;p93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3" name="Google Shape;2203;p93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04" name="Google Shape;2204;p93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05" name="Google Shape;2205;p93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206" name="Google Shape;2206;p93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7" name="Google Shape;2207;p93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208" name="Google Shape;2208;p93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93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0" name="Google Shape;2210;p93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211" name="Google Shape;2211;p93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212" name="Google Shape;2212;p93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213" name="Google Shape;2213;p93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14" name="Google Shape;2214;p93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5" name="Google Shape;2215;p93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216" name="Google Shape;2216;p93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17" name="Google Shape;2217;p93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18" name="Google Shape;2218;p93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19" name="Google Shape;2219;p93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0" name="Google Shape;2220;p93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1" name="Google Shape;2221;p93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2" name="Google Shape;2222;p93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3" name="Google Shape;2223;p93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4" name="Google Shape;2224;p93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5" name="Google Shape;2225;p93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226" name="Google Shape;2226;p93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27" name="Google Shape;2227;p93"/>
          <p:cNvSpPr txBox="1"/>
          <p:nvPr/>
        </p:nvSpPr>
        <p:spPr>
          <a:xfrm>
            <a:off x="3884700" y="2877075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1800"/>
          </a:p>
        </p:txBody>
      </p:sp>
      <p:sp>
        <p:nvSpPr>
          <p:cNvPr id="2228" name="Google Shape;2228;p93"/>
          <p:cNvSpPr txBox="1"/>
          <p:nvPr/>
        </p:nvSpPr>
        <p:spPr>
          <a:xfrm>
            <a:off x="3237838" y="4141175"/>
            <a:ext cx="40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</a:t>
            </a: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PROGRAMACIÓN POR CÓDIGO (PYTHON)</a:t>
            </a:r>
            <a:endParaRPr i="1" sz="1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29" name="Google Shape;2229;p93"/>
          <p:cNvSpPr txBox="1"/>
          <p:nvPr/>
        </p:nvSpPr>
        <p:spPr>
          <a:xfrm>
            <a:off x="3237838" y="3574825"/>
            <a:ext cx="4869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INTRODUCCIÓN A PYTHON PANDAS </a:t>
            </a:r>
            <a:endParaRPr i="1" sz="1500"/>
          </a:p>
        </p:txBody>
      </p:sp>
      <p:grpSp>
        <p:nvGrpSpPr>
          <p:cNvPr id="2230" name="Google Shape;2230;p93"/>
          <p:cNvGrpSpPr/>
          <p:nvPr/>
        </p:nvGrpSpPr>
        <p:grpSpPr>
          <a:xfrm>
            <a:off x="2743900" y="3588710"/>
            <a:ext cx="350385" cy="268145"/>
            <a:chOff x="12870166" y="7583426"/>
            <a:chExt cx="1461154" cy="1118203"/>
          </a:xfrm>
        </p:grpSpPr>
        <p:sp>
          <p:nvSpPr>
            <p:cNvPr id="2231" name="Google Shape;2231;p93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93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93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93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93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93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93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93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93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93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93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93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93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93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93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93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93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8" name="Google Shape;2248;p93"/>
          <p:cNvSpPr/>
          <p:nvPr/>
        </p:nvSpPr>
        <p:spPr>
          <a:xfrm>
            <a:off x="7753830" y="4560916"/>
            <a:ext cx="52175" cy="52280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93"/>
          <p:cNvSpPr/>
          <p:nvPr/>
        </p:nvSpPr>
        <p:spPr>
          <a:xfrm>
            <a:off x="7760630" y="4627306"/>
            <a:ext cx="39182" cy="39185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0" name="Google Shape;2250;p93"/>
          <p:cNvGrpSpPr/>
          <p:nvPr/>
        </p:nvGrpSpPr>
        <p:grpSpPr>
          <a:xfrm>
            <a:off x="7599671" y="3917723"/>
            <a:ext cx="1260147" cy="1270287"/>
            <a:chOff x="15204966" y="7201785"/>
            <a:chExt cx="3082552" cy="3107357"/>
          </a:xfrm>
        </p:grpSpPr>
        <p:grpSp>
          <p:nvGrpSpPr>
            <p:cNvPr id="2251" name="Google Shape;2251;p93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252" name="Google Shape;2252;p93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93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93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93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93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93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258" name="Google Shape;2258;p93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93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93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93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62" name="Google Shape;2262;p93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3" name="Google Shape;2263;p93"/>
          <p:cNvGrpSpPr/>
          <p:nvPr/>
        </p:nvGrpSpPr>
        <p:grpSpPr>
          <a:xfrm>
            <a:off x="2727302" y="4127559"/>
            <a:ext cx="481010" cy="323364"/>
            <a:chOff x="2745675" y="1571799"/>
            <a:chExt cx="4474516" cy="3008034"/>
          </a:xfrm>
        </p:grpSpPr>
        <p:sp>
          <p:nvSpPr>
            <p:cNvPr id="2264" name="Google Shape;2264;p93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93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93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93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93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93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93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93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93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93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93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5" name="Google Shape;2275;p93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276" name="Google Shape;2276;p93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277" name="Google Shape;2277;p93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8" name="Google Shape;2278;p93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9" name="Google Shape;2279;p93"/>
          <p:cNvGrpSpPr/>
          <p:nvPr/>
        </p:nvGrpSpPr>
        <p:grpSpPr>
          <a:xfrm>
            <a:off x="7030707" y="76801"/>
            <a:ext cx="1978986" cy="268074"/>
            <a:chOff x="14061414" y="9450001"/>
            <a:chExt cx="3957972" cy="536147"/>
          </a:xfrm>
        </p:grpSpPr>
        <p:grpSp>
          <p:nvGrpSpPr>
            <p:cNvPr id="2280" name="Google Shape;2280;p93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281" name="Google Shape;2281;p9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2" name="Google Shape;2282;p9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3" name="Google Shape;2283;p9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4" name="Google Shape;2284;p9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5" name="Google Shape;2285;p9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6" name="Google Shape;2286;p9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7" name="Google Shape;2287;p9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8" name="Google Shape;2288;p9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9" name="Google Shape;2289;p9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0" name="Google Shape;2290;p9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1" name="Google Shape;2291;p9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2" name="Google Shape;2292;p9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293" name="Google Shape;2293;p93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94" name="Google Shape;2294;p93"/>
          <p:cNvSpPr txBox="1"/>
          <p:nvPr>
            <p:ph type="title"/>
          </p:nvPr>
        </p:nvSpPr>
        <p:spPr>
          <a:xfrm>
            <a:off x="3351550" y="1313600"/>
            <a:ext cx="2669700" cy="692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95" name="Google Shape;2295;p93"/>
          <p:cNvGrpSpPr/>
          <p:nvPr/>
        </p:nvGrpSpPr>
        <p:grpSpPr>
          <a:xfrm>
            <a:off x="2727162" y="2831759"/>
            <a:ext cx="1104988" cy="483660"/>
            <a:chOff x="66465" y="28380"/>
            <a:chExt cx="6779066" cy="2967236"/>
          </a:xfrm>
        </p:grpSpPr>
        <p:sp>
          <p:nvSpPr>
            <p:cNvPr id="2296" name="Google Shape;2296;p93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93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93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93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93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93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93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93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93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93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93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93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93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93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93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93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93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93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93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93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93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93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93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93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93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93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93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93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93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93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6" name="Google Shape;2326;p93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327" name="Google Shape;2327;p93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328" name="Google Shape;2328;p93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329" name="Google Shape;2329;p93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0" name="Google Shape;2330;p93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331" name="Google Shape;2331;p93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332" name="Google Shape;2332;p93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3" name="Google Shape;2333;p93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4" name="Google Shape;2334;p93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5" name="Google Shape;2335;p93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6" name="Google Shape;2336;p93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7" name="Google Shape;2337;p93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8" name="Google Shape;2338;p93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39" name="Google Shape;2339;p93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40" name="Google Shape;2340;p93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41" name="Google Shape;2341;p93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342" name="Google Shape;2342;p93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43" name="Google Shape;2343;p93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93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5" name="Google Shape;2345;p93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346" name="Google Shape;2346;p93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47" name="Google Shape;2347;p93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48" name="Google Shape;2348;p93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49" name="Google Shape;2349;p93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0" name="Google Shape;2350;p93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1" name="Google Shape;2351;p93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2" name="Google Shape;2352;p93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3" name="Google Shape;2353;p93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54" name="Google Shape;2354;p93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55" name="Google Shape;2355;p93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56" name="Google Shape;2356;p93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57" name="Google Shape;2357;p93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358" name="Google Shape;2358;p93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59" name="Google Shape;2359;p93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360" name="Google Shape;2360;p93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1" name="Google Shape;2361;p93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362" name="Google Shape;2362;p93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93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93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93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93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93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93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93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93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93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93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93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93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93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93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7" name="Google Shape;2377;p93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378" name="Google Shape;2378;p93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79" name="Google Shape;2379;p93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80" name="Google Shape;2380;p93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81" name="Google Shape;2381;p93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82" name="Google Shape;2382;p93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83" name="Google Shape;2383;p93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84" name="Google Shape;2384;p93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85" name="Google Shape;2385;p93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386" name="Google Shape;2386;p93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387" name="Google Shape;2387;p93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8" name="Google Shape;2388;p93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89" name="Google Shape;2389;p93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90" name="Google Shape;2390;p93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91" name="Google Shape;2391;p93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392" name="Google Shape;2392;p93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3" name="Google Shape;2393;p93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4" name="Google Shape;2394;p93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5" name="Google Shape;2395;p93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6" name="Google Shape;2396;p93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7" name="Google Shape;2397;p93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8" name="Google Shape;2398;p93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9" name="Google Shape;2399;p93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0" name="Google Shape;2400;p93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1" name="Google Shape;2401;p93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2" name="Google Shape;2402;p93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3" name="Google Shape;2403;p93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4" name="Google Shape;2404;p93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5" name="Google Shape;2405;p93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6" name="Google Shape;2406;p93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7" name="Google Shape;2407;p93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8" name="Google Shape;2408;p93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9" name="Google Shape;2409;p93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0" name="Google Shape;2410;p93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1" name="Google Shape;2411;p93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2" name="Google Shape;2412;p93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3" name="Google Shape;2413;p93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4" name="Google Shape;2414;p93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5" name="Google Shape;2415;p93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6" name="Google Shape;2416;p93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17" name="Google Shape;2417;p93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18" name="Google Shape;2418;p93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419" name="Google Shape;2419;p93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0" name="Google Shape;2420;p93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